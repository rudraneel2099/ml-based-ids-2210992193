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70" r:id="rId7"/>
    <p:sldId id="271" r:id="rId8"/>
    <p:sldId id="272" r:id="rId9"/>
    <p:sldId id="273" r:id="rId10"/>
    <p:sldId id="274" r:id="rId11"/>
    <p:sldId id="275" r:id="rId12"/>
    <p:sldId id="276"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24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200" dirty="0">
                <a:latin typeface="Times New Roman" panose="02020603050405020304" pitchFamily="18" charset="0"/>
                <a:ea typeface="Calibri" panose="020F0502020204030204" pitchFamily="34" charset="0"/>
                <a:cs typeface="Times New Roman" panose="02020603050405020304" pitchFamily="18" charset="0"/>
              </a:rPr>
              <a:t>Machine-Learning-Based Intrusion Detection System: A Comparative Study Using Decision Tree and Ensemble Classifiers on NSL-KDD</a:t>
            </a:r>
            <a:endParaRPr lang="en-US" sz="32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Rudraneel Pal Banik</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2210992193</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 Isha Kansal</a:t>
            </a:r>
          </a:p>
          <a:p>
            <a:pPr algn="ctr">
              <a:lnSpc>
                <a:spcPct val="100000"/>
              </a:lnSpc>
              <a:spcBef>
                <a:spcPts val="400"/>
              </a:spcBef>
            </a:pPr>
            <a:r>
              <a:rPr lang="en-US" sz="2000" spc="-1" dirty="0">
                <a:latin typeface="Times New Roman" panose="02020603050405020304" pitchFamily="18" charset="0"/>
                <a:ea typeface="MS PGothic"/>
                <a:cs typeface="Times New Roman" panose="02020603050405020304" pitchFamily="18" charset="0"/>
              </a:rPr>
              <a:t>Associate Professor</a:t>
            </a:r>
          </a:p>
          <a:p>
            <a:pPr algn="ctr">
              <a:lnSpc>
                <a:spcPct val="100000"/>
              </a:lnSpc>
              <a:spcBef>
                <a:spcPts val="1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1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Contents</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2</a:t>
            </a:fld>
            <a:endParaRPr lang="en-US" sz="1200" b="1" strike="noStrike" spc="-1">
              <a:solidFill>
                <a:srgbClr val="000000"/>
              </a:solidFill>
              <a:latin typeface="Calibri"/>
            </a:endParaRPr>
          </a:p>
        </p:txBody>
      </p:sp>
      <p:sp>
        <p:nvSpPr>
          <p:cNvPr id="5" name="TextBox5"/>
          <p:cNvSpPr txBox="1"/>
          <p:nvPr/>
        </p:nvSpPr>
        <p:spPr>
          <a:xfrm>
            <a:off x="164008" y="920000"/>
            <a:ext cx="8815984" cy="5400000"/>
          </a:xfrm>
          <a:prstGeom prst="rect">
            <a:avLst/>
          </a:prstGeom>
          <a:noFill/>
          <a:ln w="9360">
            <a:noFill/>
          </a:ln>
        </p:spPr>
        <p:txBody>
          <a:bodyPr>
            <a:noAutofit/>
          </a:bodyPr>
          <a:lstStyle/>
          <a:p>
            <a:pPr marL="457200" indent="-317500">
              <a:buClr>
                <a:srgbClr val="000000"/>
              </a:buClr>
              <a:buSzPts val="1400"/>
              <a:buChar char="●"/>
            </a:pPr>
            <a:endParaRPr lang="en-US" sz="2000" b="0"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Introduction &amp; Problem Statement</a:t>
            </a: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Dataset: NSL-KDD</a:t>
            </a: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Methodology</a:t>
            </a: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Results: Binary Classification</a:t>
            </a: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Results: Multi-Class &amp; Feature Importance</a:t>
            </a: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Discussion</a:t>
            </a:r>
          </a:p>
          <a:p>
            <a:pPr marL="457200" indent="-317500">
              <a:buClr>
                <a:srgbClr val="000000"/>
              </a:buClr>
              <a:buSzPts val="1400"/>
              <a:buChar char="●"/>
            </a:pPr>
            <a:r>
              <a:rPr lang="en-US" sz="2400" b="0" dirty="0">
                <a:solidFill>
                  <a:srgbClr val="000000"/>
                </a:solidFill>
                <a:latin typeface="Times New Roman" panose="02020603050405020304" pitchFamily="18" charset="0"/>
                <a:cs typeface="Times New Roman" panose="02020603050405020304" pitchFamily="18" charset="0"/>
              </a:rPr>
              <a:t>Conclusion &amp;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Introduction</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3</a:t>
            </a:fld>
            <a:endParaRPr lang="en-US" sz="1200" b="1" strike="noStrike" spc="-1">
              <a:solidFill>
                <a:srgbClr val="000000"/>
              </a:solidFill>
              <a:latin typeface="Calibri"/>
            </a:endParaRPr>
          </a:p>
        </p:txBody>
      </p:sp>
      <p:sp>
        <p:nvSpPr>
          <p:cNvPr id="5" name="TextBox5"/>
          <p:cNvSpPr txBox="1"/>
          <p:nvPr/>
        </p:nvSpPr>
        <p:spPr>
          <a:xfrm>
            <a:off x="164008" y="920000"/>
            <a:ext cx="8815984" cy="5400000"/>
          </a:xfrm>
          <a:prstGeom prst="rect">
            <a:avLst/>
          </a:prstGeom>
          <a:noFill/>
          <a:ln w="9360">
            <a:noFill/>
          </a:ln>
        </p:spPr>
        <p:txBody>
          <a:bodyPr>
            <a:noAutofit/>
          </a:bodyPr>
          <a:lstStyle/>
          <a:p>
            <a:pPr marL="457200" indent="-317500">
              <a:buClr>
                <a:srgbClr val="000000"/>
              </a:buClr>
              <a:buSzPts val="1400"/>
              <a:buChar char="●"/>
            </a:pPr>
            <a:endParaRPr lang="en-US" sz="1900" b="1"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Introduction</a:t>
            </a:r>
          </a:p>
          <a:p>
            <a:pPr marL="800000" indent="-317500">
              <a:buClr>
                <a:srgbClr val="000000"/>
              </a:buClr>
              <a:buSzPts val="1200"/>
              <a:buChar char="–"/>
            </a:pPr>
            <a:r>
              <a:rPr lang="en-US" sz="1600" dirty="0"/>
              <a:t>Cybersecurity threats have increased significantly with the rapid growth of cloud computing, IoT devices, and large-scale networked systems. Traditional signature-based Intrusion Detection Systems (IDS) are effective only against known attack patterns and often fail to detect zero-day or previously unseen attacks. Machine Learning-based IDS provide a more adaptive solution by learning behavioral patterns from network traffic data and identifying malicious activity automatically.</a:t>
            </a:r>
          </a:p>
          <a:p>
            <a:pPr marL="800000" indent="-317500">
              <a:buClr>
                <a:srgbClr val="000000"/>
              </a:buClr>
              <a:buSzPts val="1200"/>
              <a:buChar char="–"/>
            </a:pPr>
            <a:endParaRPr lang="en-US" sz="1600" dirty="0">
              <a:latin typeface="Times New Roman"/>
            </a:endParaRPr>
          </a:p>
          <a:p>
            <a:pPr marL="482500">
              <a:buClr>
                <a:srgbClr val="000000"/>
              </a:buClr>
              <a:buSzPts val="1200"/>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Research Problem</a:t>
            </a:r>
          </a:p>
          <a:p>
            <a:pPr marL="800000" indent="-317500">
              <a:buClr>
                <a:srgbClr val="000000"/>
              </a:buClr>
              <a:buSzPts val="1200"/>
              <a:buChar char="–"/>
            </a:pPr>
            <a:r>
              <a:rPr lang="en-US" sz="1600" dirty="0"/>
              <a:t>Although machine learning has improved intrusion detection, many IDS models still struggle to generalize to unseen attack types and highly imbalanced attack categories such as R2L and U2R. Existing studies also frequently report inflated performance by evaluating models only on training distributions. This project addresses these issues through a reproducible comparative study of Decision Tree, Random Forest, Naive Bayes, and Linear SVM classifiers on the NSL-KDD benchmark dataset.</a:t>
            </a:r>
            <a:endParaRPr lang="en-US" sz="1700" b="0"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150"/>
              </a:spcBef>
            </a:pPr>
            <a:endParaRPr lang="en-US" sz="1400" dirty="0">
              <a:latin typeface="Times New Roman"/>
            </a:endParaRPr>
          </a:p>
          <a:p>
            <a:pPr>
              <a:lnSpc>
                <a:spcPct val="100000"/>
              </a:lnSpc>
              <a:spcBef>
                <a:spcPts val="150"/>
              </a:spcBef>
            </a:pPr>
            <a:endParaRPr lang="en-US" sz="1400" dirty="0">
              <a:latin typeface="Times New Roman"/>
            </a:endParaRPr>
          </a:p>
          <a:p>
            <a:pPr>
              <a:lnSpc>
                <a:spcPct val="100000"/>
              </a:lnSpc>
              <a:spcBef>
                <a:spcPts val="150"/>
              </a:spcBef>
            </a:pPr>
            <a:endParaRPr lang="en-US" sz="1400" dirty="0">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Dataset: NSL-KDD</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4</a:t>
            </a:fld>
            <a:endParaRPr lang="en-US" sz="1200" b="1" strike="noStrike" spc="-1">
              <a:solidFill>
                <a:srgbClr val="000000"/>
              </a:solidFill>
              <a:latin typeface="Calibri"/>
            </a:endParaRPr>
          </a:p>
        </p:txBody>
      </p:sp>
      <p:sp>
        <p:nvSpPr>
          <p:cNvPr id="5" name="TextBox5"/>
          <p:cNvSpPr txBox="1"/>
          <p:nvPr/>
        </p:nvSpPr>
        <p:spPr>
          <a:xfrm>
            <a:off x="164008" y="920000"/>
            <a:ext cx="8815984" cy="5400000"/>
          </a:xfrm>
          <a:prstGeom prst="rect">
            <a:avLst/>
          </a:prstGeom>
          <a:noFill/>
          <a:ln w="9360">
            <a:noFill/>
          </a:ln>
        </p:spPr>
        <p:txBody>
          <a:bodyPr>
            <a:noAutofit/>
          </a:bodyPr>
          <a:lstStyle/>
          <a:p>
            <a:pPr marL="457200" indent="-317500">
              <a:buClr>
                <a:srgbClr val="000000"/>
              </a:buClr>
              <a:buSzPts val="1400"/>
              <a:buChar char="●"/>
            </a:pPr>
            <a:endParaRPr lang="en-US" sz="1900" b="0"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1900" b="0" dirty="0">
                <a:solidFill>
                  <a:srgbClr val="000000"/>
                </a:solidFill>
                <a:latin typeface="Times New Roman" panose="02020603050405020304" pitchFamily="18" charset="0"/>
                <a:cs typeface="Times New Roman" panose="02020603050405020304" pitchFamily="18" charset="0"/>
              </a:rPr>
              <a:t>NSL-KDD refines KDD'99 by removing ~78% redundant records — eliminates classifier bias toward high-frequency attacks</a:t>
            </a:r>
          </a:p>
          <a:p>
            <a:pPr marL="457200" indent="-317500">
              <a:buClr>
                <a:srgbClr val="000000"/>
              </a:buClr>
              <a:buSzPts val="1400"/>
              <a:buChar char="●"/>
            </a:pPr>
            <a:r>
              <a:rPr lang="en-US" sz="1900" b="0" dirty="0">
                <a:solidFill>
                  <a:srgbClr val="000000"/>
                </a:solidFill>
                <a:latin typeface="Times New Roman" panose="02020603050405020304" pitchFamily="18" charset="0"/>
                <a:cs typeface="Times New Roman" panose="02020603050405020304" pitchFamily="18" charset="0"/>
              </a:rPr>
              <a:t>125,973 training records (KDDTrain+) | 22,544 test records (KDDTest+)</a:t>
            </a:r>
          </a:p>
          <a:p>
            <a:pPr marL="457200" indent="-317500">
              <a:buClr>
                <a:srgbClr val="000000"/>
              </a:buClr>
              <a:buSzPts val="1400"/>
              <a:buChar char="●"/>
            </a:pPr>
            <a:r>
              <a:rPr lang="en-US" sz="1900" b="0" dirty="0">
                <a:solidFill>
                  <a:srgbClr val="000000"/>
                </a:solidFill>
                <a:latin typeface="Times New Roman" panose="02020603050405020304" pitchFamily="18" charset="0"/>
                <a:cs typeface="Times New Roman" panose="02020603050405020304" pitchFamily="18" charset="0"/>
              </a:rPr>
              <a:t>41 connection-level features — protocol, duration, byte counts, flags</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5 Traffic Categories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Normal — legitimate network connections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DoS — Denial of Service (SYN flood, UDP flood)</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Probe — network scanning and mapping</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R2L — Remote to Local, unauthorized remote access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U2R — User to Root, privilege escalation</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0" dirty="0">
                <a:solidFill>
                  <a:srgbClr val="000000"/>
                </a:solidFill>
                <a:latin typeface="Times New Roman" panose="02020603050405020304" pitchFamily="18" charset="0"/>
                <a:cs typeface="Times New Roman" panose="02020603050405020304" pitchFamily="18" charset="0"/>
              </a:rPr>
              <a:t>KDDTest+ contains 17 novel attack sub-types not seen during training — tests real-world generalisation</a:t>
            </a:r>
          </a:p>
          <a:p>
            <a:pPr marL="457200" indent="-317500">
              <a:buClr>
                <a:srgbClr val="000000"/>
              </a:buClr>
              <a:buSzPts val="1400"/>
              <a:buChar char="●"/>
            </a:pPr>
            <a:r>
              <a:rPr lang="en-US" sz="1900" b="0" dirty="0">
                <a:solidFill>
                  <a:srgbClr val="000000"/>
                </a:solidFill>
                <a:latin typeface="Times New Roman" panose="02020603050405020304" pitchFamily="18" charset="0"/>
                <a:cs typeface="Times New Roman" panose="02020603050405020304" pitchFamily="18" charset="0"/>
              </a:rPr>
              <a:t>Limitation: does not reflect modern encrypted traffic or advanced persistent threats (APTs)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Methodology</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5</a:t>
            </a:fld>
            <a:endParaRPr lang="en-US" sz="1200" b="1" strike="noStrike" spc="-1">
              <a:solidFill>
                <a:srgbClr val="000000"/>
              </a:solidFill>
              <a:latin typeface="Calibri"/>
            </a:endParaRPr>
          </a:p>
        </p:txBody>
      </p:sp>
      <p:sp>
        <p:nvSpPr>
          <p:cNvPr id="5" name="TextBox5"/>
          <p:cNvSpPr txBox="1"/>
          <p:nvPr/>
        </p:nvSpPr>
        <p:spPr>
          <a:xfrm>
            <a:off x="164008" y="920000"/>
            <a:ext cx="8815984" cy="5400000"/>
          </a:xfrm>
          <a:prstGeom prst="rect">
            <a:avLst/>
          </a:prstGeom>
          <a:noFill/>
          <a:ln w="9360">
            <a:noFill/>
          </a:ln>
        </p:spPr>
        <p:txBody>
          <a:bodyPr>
            <a:noAutofit/>
          </a:bodyPr>
          <a:lstStyle/>
          <a:p>
            <a:pPr marL="457200" indent="-317500">
              <a:buClr>
                <a:srgbClr val="000000"/>
              </a:buClr>
              <a:buSzPts val="1400"/>
              <a:buChar char="●"/>
            </a:pPr>
            <a:endParaRPr lang="en-US" sz="1900" b="1"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Preprocessing</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One-hot encoding: 3 categorical features expanded 41 to 122 dimensions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Min-Max normalisation: all features scaled to [0, 1]</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4 Classifiers trained under identical conditions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Decision Tree — entropy criterion, max_depth=20, min_samples_split=5</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Random Forest — 100 trees, same DT params, majority-vote ensemble</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Naive Bayes — Gaussian NB, assumes feature independence</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Linear SVM — C=1.0, One-vs-Rest multi-class strategy</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Evaluation Protocol</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Train on KDDTrain+, evaluate on held-out KDDTest+ (with 17 unseen attack sub-types)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5-fold stratified cross-validation on training set for stability</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Metrics: Accuracy, Precision, Recall, F1-Score | McNemar's test for statistical significance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Results: Binary Classification</a:t>
            </a:r>
          </a:p>
        </p:txBody>
      </p:sp>
      <p:sp>
        <p:nvSpPr>
          <p:cNvPr id="110" name="PageNum"/>
          <p:cNvSpPr txBox="1"/>
          <p:nvPr/>
        </p:nvSpPr>
        <p:spPr>
          <a:xfrm>
            <a:off x="6476760" y="6389895"/>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6</a:t>
            </a:fld>
            <a:endParaRPr lang="en-US" sz="1200" b="1" strike="noStrike" spc="-1">
              <a:solidFill>
                <a:srgbClr val="000000"/>
              </a:solidFill>
              <a:latin typeface="Calibri"/>
            </a:endParaRPr>
          </a:p>
        </p:txBody>
      </p:sp>
      <p:sp>
        <p:nvSpPr>
          <p:cNvPr id="5" name="TextBox5"/>
          <p:cNvSpPr txBox="1"/>
          <p:nvPr/>
        </p:nvSpPr>
        <p:spPr>
          <a:xfrm>
            <a:off x="164008" y="920000"/>
            <a:ext cx="3600000" cy="4600000"/>
          </a:xfrm>
          <a:prstGeom prst="rect">
            <a:avLst/>
          </a:prstGeom>
          <a:noFill/>
          <a:ln w="9360">
            <a:noFill/>
          </a:ln>
        </p:spPr>
        <p:txBody>
          <a:bodyPr>
            <a:noAutofit/>
          </a:bodyPr>
          <a:lstStyle/>
          <a:p>
            <a:pPr marL="139700">
              <a:buClr>
                <a:srgbClr val="000000"/>
              </a:buClr>
              <a:buSzPts val="1400"/>
            </a:pPr>
            <a:endParaRPr lang="en-US" sz="1800" b="1"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1800" b="1" dirty="0">
                <a:solidFill>
                  <a:srgbClr val="000000"/>
                </a:solidFill>
                <a:latin typeface="Times New Roman" panose="02020603050405020304" pitchFamily="18" charset="0"/>
                <a:cs typeface="Times New Roman" panose="02020603050405020304" pitchFamily="18" charset="0"/>
              </a:rPr>
              <a:t>5-fold CV (KDDTrain+):</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DT 99.72%  |  RF 99.68%  |  SVM 98.91%  |  NB 85.73%</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800" b="1" dirty="0">
                <a:solidFill>
                  <a:srgbClr val="000000"/>
                </a:solidFill>
                <a:latin typeface="Times New Roman" panose="02020603050405020304" pitchFamily="18" charset="0"/>
                <a:cs typeface="Times New Roman" panose="02020603050405020304" pitchFamily="18" charset="0"/>
              </a:rPr>
              <a:t>Held-out KDDTest+:</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DT best trade-off: Acc 80.98%, Prec 96.68%, Rec 68.96%, F1 80.5%, train 0.79s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RF: marginal precision gain, significantly higher compute cost</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NB: 98% precision BUT 75.9% false negative rate — unsuitable as standalone detector</a:t>
            </a:r>
          </a:p>
        </p:txBody>
      </p:sp>
      <p:pic>
        <p:nvPicPr>
          <p:cNvPr id="6" name="Image6"/>
          <p:cNvPicPr>
            <a:picLocks noChangeAspect="1"/>
          </p:cNvPicPr>
          <p:nvPr/>
        </p:nvPicPr>
        <p:blipFill>
          <a:blip r:embed="rId2"/>
          <a:stretch>
            <a:fillRect/>
          </a:stretch>
        </p:blipFill>
        <p:spPr>
          <a:xfrm>
            <a:off x="4380280" y="920562"/>
            <a:ext cx="4306160" cy="2759320"/>
          </a:xfrm>
          <a:prstGeom prst="rect">
            <a:avLst/>
          </a:prstGeom>
        </p:spPr>
      </p:pic>
      <p:sp>
        <p:nvSpPr>
          <p:cNvPr id="8" name="Caption8"/>
          <p:cNvSpPr txBox="1"/>
          <p:nvPr/>
        </p:nvSpPr>
        <p:spPr>
          <a:xfrm>
            <a:off x="4317377" y="3749300"/>
            <a:ext cx="4826623" cy="137340"/>
          </a:xfrm>
          <a:prstGeom prst="rect">
            <a:avLst/>
          </a:prstGeom>
          <a:noFill/>
          <a:ln>
            <a:noFill/>
          </a:ln>
        </p:spPr>
        <p:txBody>
          <a:bodyPr anchor="ctr">
            <a:noAutofit/>
          </a:bodyPr>
          <a:lstStyle/>
          <a:p>
            <a:pPr algn="ctr">
              <a:lnSpc>
                <a:spcPct val="100000"/>
              </a:lnSpc>
            </a:pPr>
            <a:r>
              <a:rPr lang="en-US" sz="1400" b="0" i="1" dirty="0">
                <a:solidFill>
                  <a:srgbClr val="444444"/>
                </a:solidFill>
                <a:latin typeface="Times New Roman" panose="02020603050405020304" pitchFamily="18" charset="0"/>
              </a:rPr>
              <a:t>Fig 1. Accuracy, Precision, Recall, F1 across all classifiers</a:t>
            </a:r>
          </a:p>
        </p:txBody>
      </p:sp>
      <p:pic>
        <p:nvPicPr>
          <p:cNvPr id="7" name="Image7"/>
          <p:cNvPicPr>
            <a:picLocks noChangeAspect="1"/>
          </p:cNvPicPr>
          <p:nvPr/>
        </p:nvPicPr>
        <p:blipFill>
          <a:blip r:embed="rId3"/>
          <a:stretch>
            <a:fillRect/>
          </a:stretch>
        </p:blipFill>
        <p:spPr>
          <a:xfrm>
            <a:off x="5127999" y="4128709"/>
            <a:ext cx="2978447" cy="2078958"/>
          </a:xfrm>
          <a:prstGeom prst="rect">
            <a:avLst/>
          </a:prstGeom>
        </p:spPr>
      </p:pic>
      <p:sp>
        <p:nvSpPr>
          <p:cNvPr id="9" name="Caption9"/>
          <p:cNvSpPr txBox="1"/>
          <p:nvPr/>
        </p:nvSpPr>
        <p:spPr>
          <a:xfrm>
            <a:off x="5266366" y="6232669"/>
            <a:ext cx="3123489" cy="400000"/>
          </a:xfrm>
          <a:prstGeom prst="rect">
            <a:avLst/>
          </a:prstGeom>
          <a:noFill/>
          <a:ln>
            <a:noFill/>
          </a:ln>
        </p:spPr>
        <p:txBody>
          <a:bodyPr anchor="ctr">
            <a:noAutofit/>
          </a:bodyPr>
          <a:lstStyle/>
          <a:p>
            <a:pPr algn="ctr">
              <a:lnSpc>
                <a:spcPct val="100000"/>
              </a:lnSpc>
            </a:pPr>
            <a:r>
              <a:rPr lang="en-US" sz="1400" b="0" i="1" dirty="0">
                <a:solidFill>
                  <a:srgbClr val="444444"/>
                </a:solidFill>
                <a:latin typeface="Times New Roman" panose="02020603050405020304" pitchFamily="18" charset="0"/>
              </a:rPr>
              <a:t>Fig 2. DT Binary Confusion Matrix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Results: Multi-Class &amp; Feature Importance</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7</a:t>
            </a:fld>
            <a:endParaRPr lang="en-US" sz="1200" b="1" strike="noStrike" spc="-1">
              <a:solidFill>
                <a:srgbClr val="000000"/>
              </a:solidFill>
              <a:latin typeface="Calibri"/>
            </a:endParaRPr>
          </a:p>
        </p:txBody>
      </p:sp>
      <p:pic>
        <p:nvPicPr>
          <p:cNvPr id="5" name="Image5"/>
          <p:cNvPicPr>
            <a:picLocks noChangeAspect="1"/>
          </p:cNvPicPr>
          <p:nvPr/>
        </p:nvPicPr>
        <p:blipFill>
          <a:blip r:embed="rId2"/>
          <a:stretch>
            <a:fillRect/>
          </a:stretch>
        </p:blipFill>
        <p:spPr>
          <a:xfrm>
            <a:off x="126300" y="1086814"/>
            <a:ext cx="4200000" cy="3365000"/>
          </a:xfrm>
          <a:prstGeom prst="rect">
            <a:avLst/>
          </a:prstGeom>
        </p:spPr>
      </p:pic>
      <p:sp>
        <p:nvSpPr>
          <p:cNvPr id="6" name="Caption6"/>
          <p:cNvSpPr txBox="1"/>
          <p:nvPr/>
        </p:nvSpPr>
        <p:spPr>
          <a:xfrm>
            <a:off x="164008" y="4602804"/>
            <a:ext cx="4200000" cy="400000"/>
          </a:xfrm>
          <a:prstGeom prst="rect">
            <a:avLst/>
          </a:prstGeom>
          <a:noFill/>
          <a:ln>
            <a:noFill/>
          </a:ln>
        </p:spPr>
        <p:txBody>
          <a:bodyPr anchor="ctr">
            <a:noAutofit/>
          </a:bodyPr>
          <a:lstStyle/>
          <a:p>
            <a:pPr algn="ctr">
              <a:lnSpc>
                <a:spcPct val="100000"/>
              </a:lnSpc>
            </a:pPr>
            <a:r>
              <a:rPr lang="en-US" sz="1400" b="0" i="1" dirty="0">
                <a:solidFill>
                  <a:srgbClr val="444444"/>
                </a:solidFill>
                <a:latin typeface="Times New Roman" panose="02020603050405020304" pitchFamily="18" charset="0"/>
              </a:rPr>
              <a:t>Fig 3. Multi-Class Confusion Matrix (5 categories)</a:t>
            </a:r>
          </a:p>
        </p:txBody>
      </p:sp>
      <p:sp>
        <p:nvSpPr>
          <p:cNvPr id="7" name="TextBox7"/>
          <p:cNvSpPr txBox="1"/>
          <p:nvPr/>
        </p:nvSpPr>
        <p:spPr>
          <a:xfrm>
            <a:off x="-156508" y="4950824"/>
            <a:ext cx="4200000" cy="1700000"/>
          </a:xfrm>
          <a:prstGeom prst="rect">
            <a:avLst/>
          </a:prstGeom>
          <a:noFill/>
          <a:ln w="9360">
            <a:noFill/>
          </a:ln>
        </p:spPr>
        <p:txBody>
          <a:bodyPr>
            <a:noAutofit/>
          </a:bodyPr>
          <a:lstStyle/>
          <a:p>
            <a:pPr marL="482500">
              <a:buClr>
                <a:srgbClr val="000000"/>
              </a:buClr>
              <a:buSzPts val="1200"/>
            </a:pPr>
            <a:endParaRPr lang="en-US" sz="1700" dirty="0">
              <a:solidFill>
                <a:srgbClr val="000000"/>
              </a:solidFill>
              <a:latin typeface="Times New Roman" panose="02020603050405020304" pitchFamily="18" charset="0"/>
              <a:cs typeface="Times New Roman" panose="02020603050405020304" pitchFamily="18" charset="0"/>
            </a:endParaRP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DoS: 83% recall | Probe: 69% recall</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R2L: ~1% recall — lost in normal traffic</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U2R: ~12% recall — too few training examples</a:t>
            </a:r>
          </a:p>
        </p:txBody>
      </p:sp>
      <p:pic>
        <p:nvPicPr>
          <p:cNvPr id="8" name="Image8"/>
          <p:cNvPicPr>
            <a:picLocks noChangeAspect="1"/>
          </p:cNvPicPr>
          <p:nvPr/>
        </p:nvPicPr>
        <p:blipFill>
          <a:blip r:embed="rId3"/>
          <a:stretch>
            <a:fillRect/>
          </a:stretch>
        </p:blipFill>
        <p:spPr>
          <a:xfrm>
            <a:off x="4578281" y="907708"/>
            <a:ext cx="4450000" cy="3730000"/>
          </a:xfrm>
          <a:prstGeom prst="rect">
            <a:avLst/>
          </a:prstGeom>
        </p:spPr>
      </p:pic>
      <p:sp>
        <p:nvSpPr>
          <p:cNvPr id="9" name="Caption9"/>
          <p:cNvSpPr txBox="1"/>
          <p:nvPr/>
        </p:nvSpPr>
        <p:spPr>
          <a:xfrm>
            <a:off x="4550000" y="4624584"/>
            <a:ext cx="4450000" cy="400000"/>
          </a:xfrm>
          <a:prstGeom prst="rect">
            <a:avLst/>
          </a:prstGeom>
          <a:noFill/>
          <a:ln>
            <a:noFill/>
          </a:ln>
        </p:spPr>
        <p:txBody>
          <a:bodyPr anchor="ctr">
            <a:noAutofit/>
          </a:bodyPr>
          <a:lstStyle/>
          <a:p>
            <a:pPr algn="ctr">
              <a:lnSpc>
                <a:spcPct val="100000"/>
              </a:lnSpc>
            </a:pPr>
            <a:r>
              <a:rPr lang="en-US" sz="1400" b="0" i="1" dirty="0">
                <a:solidFill>
                  <a:srgbClr val="444444"/>
                </a:solidFill>
                <a:latin typeface="Times New Roman" panose="02020603050405020304" pitchFamily="18" charset="0"/>
              </a:rPr>
              <a:t>Fig 4. Top 15 Feature Importances (Information Gain)</a:t>
            </a:r>
          </a:p>
        </p:txBody>
      </p:sp>
      <p:sp>
        <p:nvSpPr>
          <p:cNvPr id="10" name="TextBox10"/>
          <p:cNvSpPr txBox="1"/>
          <p:nvPr/>
        </p:nvSpPr>
        <p:spPr>
          <a:xfrm>
            <a:off x="4550000" y="5200000"/>
            <a:ext cx="4450000" cy="1100000"/>
          </a:xfrm>
          <a:prstGeom prst="rect">
            <a:avLst/>
          </a:prstGeom>
          <a:noFill/>
          <a:ln w="9360">
            <a:noFill/>
          </a:ln>
        </p:spPr>
        <p:txBody>
          <a:bodyPr>
            <a:noAutofit/>
          </a:bodyPr>
          <a:lstStyle/>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same_srv_rate dominates at 47.2%</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DoS flooding maximises same-service connections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proto:icmp (12.4%) — ICMP strongly linked to probe/DoS attacks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Discussion</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8</a:t>
            </a:fld>
            <a:endParaRPr lang="en-US" sz="1200" b="1" strike="noStrike" spc="-1">
              <a:solidFill>
                <a:srgbClr val="000000"/>
              </a:solidFill>
              <a:latin typeface="Calibri"/>
            </a:endParaRPr>
          </a:p>
        </p:txBody>
      </p:sp>
      <p:sp>
        <p:nvSpPr>
          <p:cNvPr id="5" name="TextBox5"/>
          <p:cNvSpPr txBox="1"/>
          <p:nvPr/>
        </p:nvSpPr>
        <p:spPr>
          <a:xfrm>
            <a:off x="164008" y="920000"/>
            <a:ext cx="8815984" cy="5400000"/>
          </a:xfrm>
          <a:prstGeom prst="rect">
            <a:avLst/>
          </a:prstGeom>
          <a:noFill/>
          <a:ln w="9360">
            <a:noFill/>
          </a:ln>
        </p:spPr>
        <p:txBody>
          <a:bodyPr>
            <a:noAutofit/>
          </a:bodyPr>
          <a:lstStyle/>
          <a:p>
            <a:pPr marL="457200" indent="-317500">
              <a:buClr>
                <a:srgbClr val="000000"/>
              </a:buClr>
              <a:buSzPts val="1400"/>
              <a:buChar char="●"/>
            </a:pPr>
            <a:endParaRPr lang="en-US" sz="1900" b="1"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Finding 1 — Decision Tree is the optimal choice for IDS deployment</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Best F1 (80.5%) at lowest training cost (0.79s); recommended for real-time network monitoring</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Finding 2 — The CV vs. held-out gap is the critical insight of this study</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DT CV accuracy 99.72% vs. KDDTest+ accuracy 80.98%</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Caused entirely by 17 novel attack sub-types in test set — never seen during training</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Reporting only CV accuracy significantly overstates real-world IDS performance</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Finding 3 — Minority class failure is universal across all 4 classifiers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R2L and U2R attacks consistently undetected — class imbalance + behavioural similarity to normal traffic</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Standard supervised learning is insufficient; needs SMOTE or anomaly detection complement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lideTitle"/>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200" b="1" dirty="0">
                <a:latin typeface="Times New Roman" panose="02020603050405020304" pitchFamily="18" charset="0"/>
                <a:cs typeface="Times New Roman" panose="02020603050405020304" pitchFamily="18" charset="0"/>
              </a:rPr>
              <a:t>Conclusion &amp; Future Work</a:t>
            </a:r>
          </a:p>
        </p:txBody>
      </p:sp>
      <p:sp>
        <p:nvSpPr>
          <p:cNvPr id="110" name="PageNum"/>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rPr>
              <a:t>9</a:t>
            </a:fld>
            <a:endParaRPr lang="en-US" sz="1200" b="1" strike="noStrike" spc="-1">
              <a:solidFill>
                <a:srgbClr val="000000"/>
              </a:solidFill>
              <a:latin typeface="Calibri"/>
            </a:endParaRPr>
          </a:p>
        </p:txBody>
      </p:sp>
      <p:sp>
        <p:nvSpPr>
          <p:cNvPr id="5" name="TextBox5"/>
          <p:cNvSpPr txBox="1"/>
          <p:nvPr/>
        </p:nvSpPr>
        <p:spPr>
          <a:xfrm>
            <a:off x="164008" y="920000"/>
            <a:ext cx="8815984" cy="5400000"/>
          </a:xfrm>
          <a:prstGeom prst="rect">
            <a:avLst/>
          </a:prstGeom>
          <a:noFill/>
          <a:ln w="9360">
            <a:noFill/>
          </a:ln>
        </p:spPr>
        <p:txBody>
          <a:bodyPr>
            <a:noAutofit/>
          </a:bodyPr>
          <a:lstStyle/>
          <a:p>
            <a:pPr marL="457200" indent="-317500">
              <a:buClr>
                <a:srgbClr val="000000"/>
              </a:buClr>
              <a:buSzPts val="1400"/>
              <a:buChar char="●"/>
            </a:pPr>
            <a:endParaRPr lang="en-US" sz="1900" b="1" dirty="0">
              <a:solidFill>
                <a:srgbClr val="000000"/>
              </a:solidFill>
              <a:latin typeface="Times New Roman" panose="02020603050405020304" pitchFamily="18" charset="0"/>
              <a:cs typeface="Times New Roman" panose="02020603050405020304" pitchFamily="18" charset="0"/>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Key Takeaways</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Decision Tree achieves best F1 (80.5%) — recommended for practical IDS deployment</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Naive Bayes: unsuitable standalone — 75.9% false negative rate is unacceptable in a security context</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Always evaluate on held-out data containing novel attack types; CV alone is misleading</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R2L and U2R remain the unsolved challenge — standard supervised learning is not enough</a:t>
            </a:r>
          </a:p>
          <a:p>
            <a:pPr>
              <a:lnSpc>
                <a:spcPct val="100000"/>
              </a:lnSpc>
              <a:spcBef>
                <a:spcPts val="150"/>
              </a:spcBef>
            </a:pPr>
            <a:endParaRPr lang="en-US" sz="1400" dirty="0">
              <a:latin typeface="Times New Roman"/>
            </a:endParaRPr>
          </a:p>
          <a:p>
            <a:pPr marL="457200" indent="-317500">
              <a:buClr>
                <a:srgbClr val="000000"/>
              </a:buClr>
              <a:buSzPts val="1400"/>
              <a:buChar char="●"/>
            </a:pPr>
            <a:r>
              <a:rPr lang="en-US" sz="1900" b="1" dirty="0">
                <a:solidFill>
                  <a:srgbClr val="000000"/>
                </a:solidFill>
                <a:latin typeface="Times New Roman" panose="02020603050405020304" pitchFamily="18" charset="0"/>
                <a:cs typeface="Times New Roman" panose="02020603050405020304" pitchFamily="18" charset="0"/>
              </a:rPr>
              <a:t>Future Work</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SMOTE oversampling + cost-sensitive learning to improve minority class recall</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Deep learning (CNN, LSTM) for temporal and sequential attack pattern detection</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Evaluation on modern datasets: CICIDS-2017, UNSW-NB15 with encrypted traffic</a:t>
            </a:r>
          </a:p>
          <a:p>
            <a:pPr marL="800000" indent="-317500">
              <a:buClr>
                <a:srgbClr val="000000"/>
              </a:buClr>
              <a:buSzPts val="1200"/>
              <a:buChar char="–"/>
            </a:pPr>
            <a:r>
              <a:rPr lang="en-US" sz="1700" b="0" dirty="0">
                <a:solidFill>
                  <a:srgbClr val="000000"/>
                </a:solidFill>
                <a:latin typeface="Times New Roman" panose="02020603050405020304" pitchFamily="18" charset="0"/>
                <a:cs typeface="Times New Roman" panose="02020603050405020304" pitchFamily="18" charset="0"/>
              </a:rPr>
              <a:t>Hybrid system: DT for speed + dedicated anomaly detector for rare attack categories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93C54B-B1B4-4DBF-B8CA-6F670F911594}">
  <we:reference id="wa200010001" version="1.0.0.1" store="en-US" storeType="OMEX"/>
  <we:alternateReferences>
    <we:reference id="wa200010001" version="1.0.0.1" store="en-US" storeType="OMEX"/>
  </we:alternateReferences>
  <we:properties>
    <we:property name="claude.fileId" value="&quot;8e47010f-489c-46c2-8be5-b9ddfa664f3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34740</TotalTime>
  <Words>909</Words>
  <Application>Microsoft Office PowerPoint</Application>
  <PresentationFormat>On-screen Show (4:3)</PresentationFormat>
  <Paragraphs>120</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rudraneel pal banik</cp:lastModifiedBy>
  <cp:revision>2308</cp:revision>
  <dcterms:created xsi:type="dcterms:W3CDTF">2010-04-09T07:36:15Z</dcterms:created>
  <dcterms:modified xsi:type="dcterms:W3CDTF">2026-05-18T19:09:56Z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